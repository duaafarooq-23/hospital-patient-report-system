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3" r:id="rId1"/>
  </p:sldMasterIdLst>
  <p:sldIdLst>
    <p:sldId id="256" r:id="rId2"/>
    <p:sldId id="257" r:id="rId3"/>
    <p:sldId id="258" r:id="rId4"/>
    <p:sldId id="259" r:id="rId5"/>
    <p:sldId id="260" r:id="rId6"/>
    <p:sldId id="261" r:id="rId7"/>
    <p:sldId id="262" r:id="rId8"/>
    <p:sldId id="269" r:id="rId9"/>
    <p:sldId id="263" r:id="rId10"/>
    <p:sldId id="264" r:id="rId11"/>
    <p:sldId id="270" r:id="rId12"/>
    <p:sldId id="265" r:id="rId13"/>
    <p:sldId id="271" r:id="rId14"/>
    <p:sldId id="267"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5" d="100"/>
          <a:sy n="65" d="100"/>
        </p:scale>
        <p:origin x="66"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2B26DB-2AAD-44EF-A2E2-375600D2620B}" type="datetimeFigureOut">
              <a:rPr lang="en-US" smtClean="0"/>
              <a:t>11/13/2025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EE4F4B4-794B-43E6-8BD0-E7691F9AF845}"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11751005"/>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2B26DB-2AAD-44EF-A2E2-375600D2620B}"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E4F4B4-794B-43E6-8BD0-E7691F9AF845}"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02512304"/>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52B26DB-2AAD-44EF-A2E2-375600D2620B}"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E4F4B4-794B-43E6-8BD0-E7691F9AF845}"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8303769"/>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2B26DB-2AAD-44EF-A2E2-375600D2620B}"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E4F4B4-794B-43E6-8BD0-E7691F9AF845}"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8767006"/>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2B26DB-2AAD-44EF-A2E2-375600D2620B}"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E4F4B4-794B-43E6-8BD0-E7691F9AF845}"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97017926"/>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2B26DB-2AAD-44EF-A2E2-375600D2620B}"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E4F4B4-794B-43E6-8BD0-E7691F9AF845}"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83769147"/>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2B26DB-2AAD-44EF-A2E2-375600D2620B}"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E4F4B4-794B-43E6-8BD0-E7691F9AF845}" type="slidenum">
              <a:rPr lang="en-US" smtClean="0"/>
              <a:t>‹#›</a:t>
            </a:fld>
            <a:endParaRPr lang="en-US"/>
          </a:p>
        </p:txBody>
      </p:sp>
    </p:spTree>
    <p:extLst>
      <p:ext uri="{BB962C8B-B14F-4D97-AF65-F5344CB8AC3E}">
        <p14:creationId xmlns:p14="http://schemas.microsoft.com/office/powerpoint/2010/main" val="4191637517"/>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52B26DB-2AAD-44EF-A2E2-375600D2620B}"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E4F4B4-794B-43E6-8BD0-E7691F9AF845}"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83301196"/>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52B26DB-2AAD-44EF-A2E2-375600D2620B}" type="datetimeFigureOut">
              <a:rPr lang="en-US" smtClean="0"/>
              <a:t>11/13/2025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EE4F4B4-794B-43E6-8BD0-E7691F9AF845}"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744868"/>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2B26DB-2AAD-44EF-A2E2-375600D2620B}"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E4F4B4-794B-43E6-8BD0-E7691F9AF845}"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1915058"/>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2B26DB-2AAD-44EF-A2E2-375600D2620B}"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E4F4B4-794B-43E6-8BD0-E7691F9AF845}"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68641312"/>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52B26DB-2AAD-44EF-A2E2-375600D2620B}" type="datetimeFigureOut">
              <a:rPr lang="en-US" smtClean="0"/>
              <a:t>11/13/2025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EE4F4B4-794B-43E6-8BD0-E7691F9AF845}"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6177931"/>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transition spd="slow">
    <p:push dir="u"/>
  </p:transition>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D885C-4456-45A7-A6E0-2379AD511736}"/>
              </a:ext>
            </a:extLst>
          </p:cNvPr>
          <p:cNvSpPr>
            <a:spLocks noGrp="1"/>
          </p:cNvSpPr>
          <p:nvPr>
            <p:ph type="ctrTitle"/>
          </p:nvPr>
        </p:nvSpPr>
        <p:spPr/>
        <p:txBody>
          <a:bodyPr>
            <a:normAutofit/>
          </a:bodyPr>
          <a:lstStyle/>
          <a:p>
            <a:r>
              <a:rPr lang="en-US" b="1" dirty="0">
                <a:solidFill>
                  <a:schemeClr val="accent1">
                    <a:lumMod val="75000"/>
                  </a:schemeClr>
                </a:solidFill>
                <a:latin typeface="Arial" panose="020B0604020202020204" pitchFamily="34" charset="0"/>
                <a:cs typeface="Arial" panose="020B0604020202020204" pitchFamily="34" charset="0"/>
              </a:rPr>
              <a:t>                                                                                                         </a:t>
            </a:r>
            <a:br>
              <a:rPr lang="en-US" b="1" dirty="0">
                <a:solidFill>
                  <a:schemeClr val="accent1">
                    <a:lumMod val="75000"/>
                  </a:schemeClr>
                </a:solidFill>
                <a:latin typeface="Arial" panose="020B0604020202020204" pitchFamily="34" charset="0"/>
                <a:cs typeface="Arial" panose="020B0604020202020204" pitchFamily="34" charset="0"/>
              </a:rPr>
            </a:br>
            <a:r>
              <a:rPr lang="en-US" sz="3200" b="1" dirty="0">
                <a:solidFill>
                  <a:schemeClr val="accent1">
                    <a:lumMod val="75000"/>
                  </a:schemeClr>
                </a:solidFill>
                <a:latin typeface="Arial" panose="020B0604020202020204" pitchFamily="34" charset="0"/>
                <a:cs typeface="Arial" panose="020B0604020202020204" pitchFamily="34" charset="0"/>
              </a:rPr>
              <a:t>HOSPITAL PATIENT RECORD  SYSTEM                         </a:t>
            </a:r>
          </a:p>
        </p:txBody>
      </p:sp>
      <p:sp>
        <p:nvSpPr>
          <p:cNvPr id="3" name="Subtitle 2">
            <a:extLst>
              <a:ext uri="{FF2B5EF4-FFF2-40B4-BE49-F238E27FC236}">
                <a16:creationId xmlns:a16="http://schemas.microsoft.com/office/drawing/2014/main" id="{C6308F90-71F3-4712-B416-062190061CA3}"/>
              </a:ext>
            </a:extLst>
          </p:cNvPr>
          <p:cNvSpPr>
            <a:spLocks noGrp="1"/>
          </p:cNvSpPr>
          <p:nvPr>
            <p:ph type="subTitle" idx="1"/>
          </p:nvPr>
        </p:nvSpPr>
        <p:spPr/>
        <p:txBody>
          <a:bodyPr>
            <a:normAutofit/>
          </a:bodyPr>
          <a:lstStyle/>
          <a:p>
            <a:r>
              <a:rPr lang="en-US" dirty="0" err="1">
                <a:solidFill>
                  <a:schemeClr val="accent1">
                    <a:lumMod val="75000"/>
                  </a:schemeClr>
                </a:solidFill>
              </a:rPr>
              <a:t>Duaa</a:t>
            </a:r>
            <a:r>
              <a:rPr lang="en-US" dirty="0">
                <a:solidFill>
                  <a:schemeClr val="accent1">
                    <a:lumMod val="75000"/>
                  </a:schemeClr>
                </a:solidFill>
              </a:rPr>
              <a:t> Farooq   ct-058</a:t>
            </a:r>
          </a:p>
          <a:p>
            <a:r>
              <a:rPr lang="en-US" dirty="0" err="1">
                <a:solidFill>
                  <a:schemeClr val="accent1">
                    <a:lumMod val="75000"/>
                  </a:schemeClr>
                </a:solidFill>
              </a:rPr>
              <a:t>Eman</a:t>
            </a:r>
            <a:r>
              <a:rPr lang="en-US" dirty="0">
                <a:solidFill>
                  <a:schemeClr val="accent1">
                    <a:lumMod val="75000"/>
                  </a:schemeClr>
                </a:solidFill>
              </a:rPr>
              <a:t> Siddiqui   ct-072</a:t>
            </a:r>
          </a:p>
        </p:txBody>
      </p:sp>
    </p:spTree>
    <p:extLst>
      <p:ext uri="{BB962C8B-B14F-4D97-AF65-F5344CB8AC3E}">
        <p14:creationId xmlns:p14="http://schemas.microsoft.com/office/powerpoint/2010/main" val="368935245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A2CB4-BC06-4BC5-89C8-DFF2007763C6}"/>
              </a:ext>
            </a:extLst>
          </p:cNvPr>
          <p:cNvSpPr>
            <a:spLocks noGrp="1"/>
          </p:cNvSpPr>
          <p:nvPr>
            <p:ph type="title"/>
          </p:nvPr>
        </p:nvSpPr>
        <p:spPr/>
        <p:txBody>
          <a:bodyPr>
            <a:normAutofit/>
          </a:bodyPr>
          <a:lstStyle/>
          <a:p>
            <a:r>
              <a:rPr lang="en-US">
                <a:solidFill>
                  <a:schemeClr val="accent1">
                    <a:lumMod val="75000"/>
                  </a:schemeClr>
                </a:solidFill>
                <a:latin typeface="Lucida Sans Typewriter" panose="020B0509030504030204" pitchFamily="49" charset="0"/>
              </a:rPr>
              <a:t>INDEX</a:t>
            </a:r>
            <a:endParaRPr lang="en-US" dirty="0">
              <a:solidFill>
                <a:schemeClr val="accent1">
                  <a:lumMod val="75000"/>
                </a:schemeClr>
              </a:solidFill>
              <a:latin typeface="Lucida Sans Typewriter" panose="020B0509030504030204" pitchFamily="49" charset="0"/>
            </a:endParaRPr>
          </a:p>
        </p:txBody>
      </p:sp>
      <p:sp>
        <p:nvSpPr>
          <p:cNvPr id="3" name="Subtitle 2">
            <a:extLst>
              <a:ext uri="{FF2B5EF4-FFF2-40B4-BE49-F238E27FC236}">
                <a16:creationId xmlns:a16="http://schemas.microsoft.com/office/drawing/2014/main" id="{2BE6D98C-543E-4842-9B1D-92FDED31E641}"/>
              </a:ext>
            </a:extLst>
          </p:cNvPr>
          <p:cNvSpPr>
            <a:spLocks noGrp="1"/>
          </p:cNvSpPr>
          <p:nvPr>
            <p:ph idx="1"/>
          </p:nvPr>
        </p:nvSpPr>
        <p:spPr/>
        <p:txBody>
          <a:bodyPr>
            <a:normAutofit fontScale="85000" lnSpcReduction="20000"/>
          </a:bodyPr>
          <a:lstStyle/>
          <a:p>
            <a:pPr marL="457200" indent="-457200" algn="l">
              <a:buFont typeface="+mj-lt"/>
              <a:buAutoNum type="arabicPeriod"/>
            </a:pPr>
            <a:r>
              <a:rPr lang="en-US" dirty="0">
                <a:solidFill>
                  <a:schemeClr val="accent1">
                    <a:lumMod val="75000"/>
                  </a:schemeClr>
                </a:solidFill>
              </a:rPr>
              <a:t>ABSTRACT</a:t>
            </a:r>
          </a:p>
          <a:p>
            <a:pPr marL="457200" indent="-457200" algn="l">
              <a:buFont typeface="+mj-lt"/>
              <a:buAutoNum type="arabicPeriod"/>
            </a:pPr>
            <a:r>
              <a:rPr lang="en-US" dirty="0">
                <a:solidFill>
                  <a:schemeClr val="accent1">
                    <a:lumMod val="75000"/>
                  </a:schemeClr>
                </a:solidFill>
              </a:rPr>
              <a:t>INTRODUCTION</a:t>
            </a:r>
          </a:p>
          <a:p>
            <a:pPr marL="457200" indent="-457200" algn="l">
              <a:buFont typeface="+mj-lt"/>
              <a:buAutoNum type="arabicPeriod"/>
            </a:pPr>
            <a:r>
              <a:rPr lang="en-US" dirty="0">
                <a:solidFill>
                  <a:schemeClr val="accent1">
                    <a:lumMod val="75000"/>
                  </a:schemeClr>
                </a:solidFill>
              </a:rPr>
              <a:t>OBJECTIVES</a:t>
            </a:r>
          </a:p>
          <a:p>
            <a:pPr marL="457200" indent="-457200" algn="l">
              <a:buFont typeface="+mj-lt"/>
              <a:buAutoNum type="arabicPeriod"/>
            </a:pPr>
            <a:r>
              <a:rPr lang="en-US" dirty="0">
                <a:solidFill>
                  <a:schemeClr val="accent1">
                    <a:lumMod val="75000"/>
                  </a:schemeClr>
                </a:solidFill>
              </a:rPr>
              <a:t>HOW IT WAS SOLVED</a:t>
            </a:r>
          </a:p>
          <a:p>
            <a:pPr marL="457200" indent="-457200" algn="l">
              <a:buFont typeface="+mj-lt"/>
              <a:buAutoNum type="arabicPeriod"/>
            </a:pPr>
            <a:r>
              <a:rPr lang="en-US" dirty="0">
                <a:solidFill>
                  <a:schemeClr val="accent1">
                    <a:lumMod val="75000"/>
                  </a:schemeClr>
                </a:solidFill>
              </a:rPr>
              <a:t>ARCHITECTURE OF THE SYSTEM</a:t>
            </a:r>
          </a:p>
          <a:p>
            <a:pPr marL="457200" indent="-457200" algn="l">
              <a:buFont typeface="+mj-lt"/>
              <a:buAutoNum type="arabicPeriod"/>
            </a:pPr>
            <a:r>
              <a:rPr lang="en-US" dirty="0">
                <a:solidFill>
                  <a:schemeClr val="accent1">
                    <a:lumMod val="75000"/>
                  </a:schemeClr>
                </a:solidFill>
              </a:rPr>
              <a:t>FLOWCHART</a:t>
            </a:r>
          </a:p>
          <a:p>
            <a:pPr marL="457200" indent="-457200" algn="l">
              <a:buFont typeface="+mj-lt"/>
              <a:buAutoNum type="arabicPeriod"/>
            </a:pPr>
            <a:r>
              <a:rPr lang="en-US" dirty="0">
                <a:solidFill>
                  <a:schemeClr val="accent1">
                    <a:lumMod val="75000"/>
                  </a:schemeClr>
                </a:solidFill>
              </a:rPr>
              <a:t>RESULTS</a:t>
            </a:r>
          </a:p>
          <a:p>
            <a:pPr marL="457200" indent="-457200" algn="l">
              <a:buFont typeface="+mj-lt"/>
              <a:buAutoNum type="arabicPeriod"/>
            </a:pPr>
            <a:r>
              <a:rPr lang="en-US" dirty="0">
                <a:solidFill>
                  <a:schemeClr val="accent1">
                    <a:lumMod val="75000"/>
                  </a:schemeClr>
                </a:solidFill>
              </a:rPr>
              <a:t>ASSUMPTION</a:t>
            </a:r>
          </a:p>
          <a:p>
            <a:pPr marL="457200" indent="-457200" algn="l">
              <a:buFont typeface="+mj-lt"/>
              <a:buAutoNum type="arabicPeriod"/>
            </a:pPr>
            <a:r>
              <a:rPr lang="en-US" dirty="0">
                <a:solidFill>
                  <a:schemeClr val="accent1">
                    <a:lumMod val="75000"/>
                  </a:schemeClr>
                </a:solidFill>
              </a:rPr>
              <a:t>CONCLUSION</a:t>
            </a:r>
          </a:p>
        </p:txBody>
      </p:sp>
    </p:spTree>
    <p:extLst>
      <p:ext uri="{BB962C8B-B14F-4D97-AF65-F5344CB8AC3E}">
        <p14:creationId xmlns:p14="http://schemas.microsoft.com/office/powerpoint/2010/main" val="302012558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5A114-E914-4EF0-8C6A-FA0C0C73A7D4}"/>
              </a:ext>
            </a:extLst>
          </p:cNvPr>
          <p:cNvSpPr>
            <a:spLocks noGrp="1"/>
          </p:cNvSpPr>
          <p:nvPr>
            <p:ph type="title"/>
          </p:nvPr>
        </p:nvSpPr>
        <p:spPr/>
        <p:txBody>
          <a:bodyPr>
            <a:normAutofit/>
          </a:bodyPr>
          <a:lstStyle/>
          <a:p>
            <a:br>
              <a:rPr lang="en-US" sz="1100" dirty="0"/>
            </a:br>
            <a:r>
              <a:rPr lang="en-US" sz="4400" i="1" dirty="0">
                <a:solidFill>
                  <a:schemeClr val="accent1">
                    <a:lumMod val="75000"/>
                  </a:schemeClr>
                </a:solidFill>
              </a:rPr>
              <a:t>ABSTRACT:</a:t>
            </a:r>
          </a:p>
        </p:txBody>
      </p:sp>
      <p:sp>
        <p:nvSpPr>
          <p:cNvPr id="3" name="Subtitle 2">
            <a:extLst>
              <a:ext uri="{FF2B5EF4-FFF2-40B4-BE49-F238E27FC236}">
                <a16:creationId xmlns:a16="http://schemas.microsoft.com/office/drawing/2014/main" id="{D4A75B05-902E-436F-8DE4-08A20B5B3807}"/>
              </a:ext>
            </a:extLst>
          </p:cNvPr>
          <p:cNvSpPr>
            <a:spLocks noGrp="1"/>
          </p:cNvSpPr>
          <p:nvPr>
            <p:ph idx="1"/>
          </p:nvPr>
        </p:nvSpPr>
        <p:spPr/>
        <p:txBody>
          <a:bodyPr>
            <a:normAutofit/>
          </a:bodyPr>
          <a:lstStyle/>
          <a:p>
            <a:pPr algn="l"/>
            <a:r>
              <a:rPr lang="en-US" dirty="0"/>
              <a:t>In today’s healthcare system, managing patient information properly plays a very important role in providing smooth and effective medical services. Every day, hospitals and clinics handle a large number of patients, and keeping their records accurate and up to date can be a difficult task. Many healthcare centers still depend on paper files to record patient details, which can easily be misplaced, damaged, or take too long to search through. These problems often lead to delays in treatment, repeated tests, and unnecessary confusion. To overcome such challenges, this project introduces a Patient Record System developed in the C programming language.</a:t>
            </a:r>
          </a:p>
        </p:txBody>
      </p:sp>
    </p:spTree>
    <p:extLst>
      <p:ext uri="{BB962C8B-B14F-4D97-AF65-F5344CB8AC3E}">
        <p14:creationId xmlns:p14="http://schemas.microsoft.com/office/powerpoint/2010/main" val="280441427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561E9-6914-4D9B-B1FC-42FBB201A42A}"/>
              </a:ext>
            </a:extLst>
          </p:cNvPr>
          <p:cNvSpPr>
            <a:spLocks noGrp="1"/>
          </p:cNvSpPr>
          <p:nvPr>
            <p:ph type="title"/>
          </p:nvPr>
        </p:nvSpPr>
        <p:spPr/>
        <p:txBody>
          <a:bodyPr>
            <a:normAutofit/>
          </a:bodyPr>
          <a:lstStyle/>
          <a:p>
            <a:r>
              <a:rPr lang="en-US" b="1" i="1" dirty="0">
                <a:solidFill>
                  <a:schemeClr val="accent1">
                    <a:lumMod val="75000"/>
                  </a:schemeClr>
                </a:solidFill>
              </a:rPr>
              <a:t>INTRODUCTION:</a:t>
            </a:r>
          </a:p>
        </p:txBody>
      </p:sp>
      <p:sp>
        <p:nvSpPr>
          <p:cNvPr id="3" name="Content Placeholder 2">
            <a:extLst>
              <a:ext uri="{FF2B5EF4-FFF2-40B4-BE49-F238E27FC236}">
                <a16:creationId xmlns:a16="http://schemas.microsoft.com/office/drawing/2014/main" id="{48248F0A-6534-4107-B43B-7F719D1F984B}"/>
              </a:ext>
            </a:extLst>
          </p:cNvPr>
          <p:cNvSpPr>
            <a:spLocks noGrp="1"/>
          </p:cNvSpPr>
          <p:nvPr>
            <p:ph idx="1"/>
          </p:nvPr>
        </p:nvSpPr>
        <p:spPr/>
        <p:txBody>
          <a:bodyPr>
            <a:normAutofit fontScale="70000" lnSpcReduction="20000"/>
          </a:bodyPr>
          <a:lstStyle/>
          <a:p>
            <a:r>
              <a:rPr lang="en-US" dirty="0"/>
              <a:t>This system is designed to help hospitals and clinics store and manage patient information in a simple and organized way. It allows users to enter details such as the patient’s name, disease, age, and a unique ID number. Once entered, the program makes it easy to view all patient records, search for a patient by ID or disease, and even update information whenever needed. The use of arrays and functions in C helps in storing and managing the data efficiently.</a:t>
            </a:r>
          </a:p>
          <a:p>
            <a:r>
              <a:rPr lang="en-US" dirty="0"/>
              <a:t> Although this version of the project stores data temporarily in memory, it can be further improved by adding new features such as saving records permanently using file handling, deleting old records, and adding data validation to prevent incorrect entries. In the future, it can also be connected to a database to handle a larger number of patients or linked with hospital management software for more advanced use. </a:t>
            </a:r>
          </a:p>
          <a:p>
            <a:r>
              <a:rPr lang="en-US" dirty="0"/>
              <a:t>Overall, this project shows how computer programming can solve real-life problems in the healthcare field. By converting manual record-keeping into a digital process, the Patient Record System makes it easier, faster, and safer to manage patient data. It is a small but meaningful step toward the digital transformation of healthcare, ensuring that technology benefits not only large hospitals but also small clinics and local health centers.</a:t>
            </a:r>
          </a:p>
        </p:txBody>
      </p:sp>
    </p:spTree>
    <p:extLst>
      <p:ext uri="{BB962C8B-B14F-4D97-AF65-F5344CB8AC3E}">
        <p14:creationId xmlns:p14="http://schemas.microsoft.com/office/powerpoint/2010/main" val="149575255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957E-DAD6-45C0-A143-BB144ECD96A9}"/>
              </a:ext>
            </a:extLst>
          </p:cNvPr>
          <p:cNvSpPr>
            <a:spLocks noGrp="1"/>
          </p:cNvSpPr>
          <p:nvPr>
            <p:ph type="title"/>
          </p:nvPr>
        </p:nvSpPr>
        <p:spPr/>
        <p:txBody>
          <a:bodyPr/>
          <a:lstStyle/>
          <a:p>
            <a:r>
              <a:rPr lang="en-US" b="1" i="1" dirty="0">
                <a:solidFill>
                  <a:schemeClr val="accent1">
                    <a:lumMod val="75000"/>
                  </a:schemeClr>
                </a:solidFill>
              </a:rPr>
              <a:t>OBJECTIVES</a:t>
            </a:r>
            <a:r>
              <a:rPr lang="en-US" i="1" dirty="0">
                <a:solidFill>
                  <a:schemeClr val="accent1">
                    <a:lumMod val="75000"/>
                  </a:schemeClr>
                </a:solidFill>
              </a:rPr>
              <a:t>:</a:t>
            </a:r>
          </a:p>
        </p:txBody>
      </p:sp>
      <p:sp>
        <p:nvSpPr>
          <p:cNvPr id="3" name="Content Placeholder 2">
            <a:extLst>
              <a:ext uri="{FF2B5EF4-FFF2-40B4-BE49-F238E27FC236}">
                <a16:creationId xmlns:a16="http://schemas.microsoft.com/office/drawing/2014/main" id="{E9CCFFF0-1B42-4AB7-9A2A-8E62A6F8784B}"/>
              </a:ext>
            </a:extLst>
          </p:cNvPr>
          <p:cNvSpPr>
            <a:spLocks noGrp="1"/>
          </p:cNvSpPr>
          <p:nvPr>
            <p:ph idx="1"/>
          </p:nvPr>
        </p:nvSpPr>
        <p:spPr/>
        <p:txBody>
          <a:bodyPr>
            <a:normAutofit fontScale="77500" lnSpcReduction="20000"/>
          </a:bodyPr>
          <a:lstStyle/>
          <a:p>
            <a:pPr marL="0" indent="0">
              <a:buNone/>
            </a:pPr>
            <a:r>
              <a:rPr lang="en-US" dirty="0"/>
              <a:t>The main aim of this project is to develop a simple and effective Patient Record System that helps manage patient information digitally. The system is designed to: </a:t>
            </a:r>
          </a:p>
          <a:p>
            <a:pPr marL="457200" indent="-457200">
              <a:buFont typeface="+mj-lt"/>
              <a:buAutoNum type="arabicPeriod"/>
            </a:pPr>
            <a:r>
              <a:rPr lang="en-US" dirty="0"/>
              <a:t>Provide Organized Record-Keeping: Ensure that patient details are stored in a        clear and structured way for easy access.</a:t>
            </a:r>
          </a:p>
          <a:p>
            <a:pPr marL="457200" indent="-457200">
              <a:buFont typeface="+mj-lt"/>
              <a:buAutoNum type="arabicPeriod"/>
            </a:pPr>
            <a:r>
              <a:rPr lang="en-US" dirty="0"/>
              <a:t>Improve Efficiency: Reduce the time and effort required to find, update, or    maintain patient records.</a:t>
            </a:r>
          </a:p>
          <a:p>
            <a:pPr marL="457200" indent="-457200">
              <a:buFont typeface="+mj-lt"/>
              <a:buAutoNum type="arabicPeriod"/>
            </a:pPr>
            <a:r>
              <a:rPr lang="en-US" dirty="0"/>
              <a:t>Minimize Errors: Decrease mistakes that often occur in manual paper-based record-keeping.</a:t>
            </a:r>
          </a:p>
          <a:p>
            <a:pPr marL="457200" indent="-457200">
              <a:buFont typeface="+mj-lt"/>
              <a:buAutoNum type="arabicPeriod"/>
            </a:pPr>
            <a:r>
              <a:rPr lang="en-US" dirty="0"/>
              <a:t>Be Easy to Use: Create a user-friendly system that can be used by hospital or clinic staff without technical expertise.</a:t>
            </a:r>
          </a:p>
          <a:p>
            <a:pPr marL="457200" indent="-457200">
              <a:buFont typeface="+mj-lt"/>
              <a:buAutoNum type="arabicPeriod"/>
            </a:pPr>
            <a:r>
              <a:rPr lang="en-US" dirty="0"/>
              <a:t>Support Learning and Understanding Serve as a practical example for students and beginners to understand basic programming concepts like arrays, functions, and conditional statements, while solving a real-world problem. </a:t>
            </a:r>
          </a:p>
        </p:txBody>
      </p:sp>
    </p:spTree>
    <p:extLst>
      <p:ext uri="{BB962C8B-B14F-4D97-AF65-F5344CB8AC3E}">
        <p14:creationId xmlns:p14="http://schemas.microsoft.com/office/powerpoint/2010/main" val="155025926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95EF-9690-44C8-BD93-A214124E1B9B}"/>
              </a:ext>
            </a:extLst>
          </p:cNvPr>
          <p:cNvSpPr>
            <a:spLocks noGrp="1"/>
          </p:cNvSpPr>
          <p:nvPr>
            <p:ph type="title"/>
          </p:nvPr>
        </p:nvSpPr>
        <p:spPr/>
        <p:txBody>
          <a:bodyPr/>
          <a:lstStyle/>
          <a:p>
            <a:r>
              <a:rPr lang="en-US" b="1" i="1" dirty="0">
                <a:solidFill>
                  <a:schemeClr val="accent1">
                    <a:lumMod val="75000"/>
                  </a:schemeClr>
                </a:solidFill>
              </a:rPr>
              <a:t>HOW IT WAS SOLVED?</a:t>
            </a:r>
          </a:p>
        </p:txBody>
      </p:sp>
      <p:sp>
        <p:nvSpPr>
          <p:cNvPr id="7" name="Content Placeholder 6">
            <a:extLst>
              <a:ext uri="{FF2B5EF4-FFF2-40B4-BE49-F238E27FC236}">
                <a16:creationId xmlns:a16="http://schemas.microsoft.com/office/drawing/2014/main" id="{3C23653B-AD16-4B3E-A533-73DE5410CE06}"/>
              </a:ext>
            </a:extLst>
          </p:cNvPr>
          <p:cNvSpPr>
            <a:spLocks noGrp="1"/>
          </p:cNvSpPr>
          <p:nvPr>
            <p:ph idx="1"/>
          </p:nvPr>
        </p:nvSpPr>
        <p:spPr>
          <a:xfrm>
            <a:off x="1451579" y="2015732"/>
            <a:ext cx="9603275" cy="3868874"/>
          </a:xfrm>
        </p:spPr>
        <p:txBody>
          <a:bodyPr/>
          <a:lstStyle/>
          <a:p>
            <a:r>
              <a:rPr lang="en-US" dirty="0"/>
              <a:t>To solve the problem of managing patient records manually, we developed a simple and user-friendly program in C language. The system allows basic operations like adding, viewing, searching, and updating patient information efficiently</a:t>
            </a:r>
          </a:p>
          <a:p>
            <a:r>
              <a:rPr lang="en-US" dirty="0"/>
              <a:t>Each patient’s record includes an ID, name, disease, and age. Functions and arrays were used to handle multiple patients easily. The program uses a </a:t>
            </a:r>
            <a:r>
              <a:rPr lang="en-US" b="1" dirty="0"/>
              <a:t>menu-driven structure</a:t>
            </a:r>
            <a:r>
              <a:rPr lang="en-US" dirty="0"/>
              <a:t>, so users can perform actions just by selecting options from the menu.</a:t>
            </a:r>
          </a:p>
          <a:p>
            <a:r>
              <a:rPr lang="en-US" dirty="0"/>
              <a:t>The logic was kept simple using loops, conditions and the </a:t>
            </a:r>
            <a:r>
              <a:rPr lang="en-US" dirty="0" err="1"/>
              <a:t>strcmp</a:t>
            </a:r>
            <a:r>
              <a:rPr lang="en-US" dirty="0"/>
              <a:t>() function for searching disease. Overall this PATIENT RECORD SYSTEM provides quick organized and error free way to manage patient data digitally. </a:t>
            </a:r>
          </a:p>
          <a:p>
            <a:endParaRPr lang="en-US" dirty="0"/>
          </a:p>
        </p:txBody>
      </p:sp>
    </p:spTree>
    <p:extLst>
      <p:ext uri="{BB962C8B-B14F-4D97-AF65-F5344CB8AC3E}">
        <p14:creationId xmlns:p14="http://schemas.microsoft.com/office/powerpoint/2010/main" val="69292501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413B2-6FF1-4687-8DCC-056686CD4409}"/>
              </a:ext>
            </a:extLst>
          </p:cNvPr>
          <p:cNvSpPr>
            <a:spLocks noGrp="1"/>
          </p:cNvSpPr>
          <p:nvPr>
            <p:ph type="title"/>
          </p:nvPr>
        </p:nvSpPr>
        <p:spPr/>
        <p:txBody>
          <a:bodyPr/>
          <a:lstStyle/>
          <a:p>
            <a:r>
              <a:rPr lang="en-US" b="1" i="1" dirty="0">
                <a:solidFill>
                  <a:schemeClr val="accent1">
                    <a:lumMod val="75000"/>
                  </a:schemeClr>
                </a:solidFill>
              </a:rPr>
              <a:t>ARCHITECTURE OF THE SYSTEM:</a:t>
            </a:r>
          </a:p>
        </p:txBody>
      </p:sp>
      <p:sp>
        <p:nvSpPr>
          <p:cNvPr id="3" name="Content Placeholder 2">
            <a:extLst>
              <a:ext uri="{FF2B5EF4-FFF2-40B4-BE49-F238E27FC236}">
                <a16:creationId xmlns:a16="http://schemas.microsoft.com/office/drawing/2014/main" id="{68ED1268-F8E4-4426-847D-BE1608BB162B}"/>
              </a:ext>
            </a:extLst>
          </p:cNvPr>
          <p:cNvSpPr>
            <a:spLocks noGrp="1"/>
          </p:cNvSpPr>
          <p:nvPr>
            <p:ph idx="1"/>
          </p:nvPr>
        </p:nvSpPr>
        <p:spPr/>
        <p:txBody>
          <a:bodyPr>
            <a:normAutofit/>
          </a:bodyPr>
          <a:lstStyle/>
          <a:p>
            <a:pPr marL="0" indent="0">
              <a:buNone/>
            </a:pPr>
            <a:r>
              <a:rPr lang="en-US" dirty="0"/>
              <a:t>The Patient Record System is designed using a </a:t>
            </a:r>
            <a:r>
              <a:rPr lang="en-US" b="1" dirty="0"/>
              <a:t>modular and simple architecture</a:t>
            </a:r>
            <a:r>
              <a:rPr lang="en-US" dirty="0"/>
              <a:t> that allows easy management of patient information. The system is console-based and built using the </a:t>
            </a:r>
            <a:r>
              <a:rPr lang="en-US" b="1" dirty="0"/>
              <a:t>C programming language</a:t>
            </a:r>
            <a:r>
              <a:rPr lang="en-US" dirty="0"/>
              <a:t>. Its architecture can be understood in terms of </a:t>
            </a:r>
            <a:r>
              <a:rPr lang="en-US" b="1" dirty="0"/>
              <a:t>data storage, main modules, and program flow.</a:t>
            </a:r>
          </a:p>
          <a:p>
            <a:pPr marL="0" indent="0">
              <a:buNone/>
            </a:pPr>
            <a:endParaRPr lang="en-US" b="1" dirty="0"/>
          </a:p>
          <a:p>
            <a:pPr marL="0" indent="0">
              <a:buNone/>
            </a:pPr>
            <a:endParaRPr lang="en-US" b="1" i="1" dirty="0">
              <a:solidFill>
                <a:schemeClr val="accent1">
                  <a:lumMod val="75000"/>
                </a:schemeClr>
              </a:solidFill>
            </a:endParaRPr>
          </a:p>
          <a:p>
            <a:pPr marL="0" indent="0">
              <a:buNone/>
            </a:pPr>
            <a:endParaRPr lang="en-US" b="1" i="1" dirty="0">
              <a:solidFill>
                <a:schemeClr val="accent1">
                  <a:lumMod val="75000"/>
                </a:schemeClr>
              </a:solidFill>
            </a:endParaRPr>
          </a:p>
        </p:txBody>
      </p:sp>
    </p:spTree>
    <p:extLst>
      <p:ext uri="{BB962C8B-B14F-4D97-AF65-F5344CB8AC3E}">
        <p14:creationId xmlns:p14="http://schemas.microsoft.com/office/powerpoint/2010/main" val="8034793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073FE-3CE3-4764-B357-4416E10E667B}"/>
              </a:ext>
            </a:extLst>
          </p:cNvPr>
          <p:cNvSpPr>
            <a:spLocks noGrp="1"/>
          </p:cNvSpPr>
          <p:nvPr>
            <p:ph type="title"/>
          </p:nvPr>
        </p:nvSpPr>
        <p:spPr/>
        <p:txBody>
          <a:bodyPr/>
          <a:lstStyle/>
          <a:p>
            <a:pPr marL="514350" indent="-514350">
              <a:buFont typeface="+mj-lt"/>
              <a:buAutoNum type="arabicPeriod"/>
            </a:pPr>
            <a:r>
              <a:rPr lang="en-US" i="1" dirty="0">
                <a:solidFill>
                  <a:schemeClr val="accent1">
                    <a:lumMod val="75000"/>
                  </a:schemeClr>
                </a:solidFill>
              </a:rPr>
              <a:t>DATA STORAGE</a:t>
            </a:r>
          </a:p>
        </p:txBody>
      </p:sp>
      <p:sp>
        <p:nvSpPr>
          <p:cNvPr id="3" name="Content Placeholder 2">
            <a:extLst>
              <a:ext uri="{FF2B5EF4-FFF2-40B4-BE49-F238E27FC236}">
                <a16:creationId xmlns:a16="http://schemas.microsoft.com/office/drawing/2014/main" id="{426EBABA-ABE2-4307-BA4F-CFB495FA8792}"/>
              </a:ext>
            </a:extLst>
          </p:cNvPr>
          <p:cNvSpPr>
            <a:spLocks noGrp="1"/>
          </p:cNvSpPr>
          <p:nvPr>
            <p:ph idx="1"/>
          </p:nvPr>
        </p:nvSpPr>
        <p:spPr/>
        <p:txBody>
          <a:bodyPr>
            <a:normAutofit fontScale="92500" lnSpcReduction="10000"/>
          </a:bodyPr>
          <a:lstStyle/>
          <a:p>
            <a:pPr marL="0" indent="0">
              <a:buNone/>
            </a:pPr>
            <a:r>
              <a:rPr lang="en-US" dirty="0"/>
              <a:t>All patient information is stored temporarily in arrays. Each patient has four main attributes:</a:t>
            </a:r>
          </a:p>
          <a:p>
            <a:pPr marL="0" indent="0">
              <a:buNone/>
            </a:pPr>
            <a:r>
              <a:rPr lang="en-US" dirty="0"/>
              <a:t> • ID – a unique number automatically assigned to each patient.</a:t>
            </a:r>
          </a:p>
          <a:p>
            <a:pPr marL="0" indent="0">
              <a:buNone/>
            </a:pPr>
            <a:r>
              <a:rPr lang="en-US" dirty="0"/>
              <a:t> • Name – the patient’s full name. </a:t>
            </a:r>
          </a:p>
          <a:p>
            <a:pPr marL="0" indent="0">
              <a:buNone/>
            </a:pPr>
            <a:r>
              <a:rPr lang="en-US" dirty="0"/>
              <a:t>• Disease – the illness or condition of the patient.</a:t>
            </a:r>
          </a:p>
          <a:p>
            <a:pPr marL="0" indent="0">
              <a:buNone/>
            </a:pPr>
            <a:r>
              <a:rPr lang="en-US" dirty="0"/>
              <a:t> • Age – the patient’s age.</a:t>
            </a:r>
          </a:p>
          <a:p>
            <a:pPr marL="0" indent="0">
              <a:buNone/>
            </a:pPr>
            <a:endParaRPr lang="en-US" dirty="0"/>
          </a:p>
          <a:p>
            <a:pPr marL="0" indent="0">
              <a:buNone/>
            </a:pPr>
            <a:r>
              <a:rPr lang="en-US" dirty="0"/>
              <a:t> Arrays are used to store multiple patient records, making it possible to manage up to 50 patients in the current system.</a:t>
            </a:r>
            <a:endParaRPr lang="en-US" b="1" i="1" dirty="0">
              <a:solidFill>
                <a:schemeClr val="accent1">
                  <a:lumMod val="75000"/>
                </a:schemeClr>
              </a:solidFill>
            </a:endParaRPr>
          </a:p>
          <a:p>
            <a:endParaRPr lang="en-US" dirty="0"/>
          </a:p>
        </p:txBody>
      </p:sp>
    </p:spTree>
    <p:extLst>
      <p:ext uri="{BB962C8B-B14F-4D97-AF65-F5344CB8AC3E}">
        <p14:creationId xmlns:p14="http://schemas.microsoft.com/office/powerpoint/2010/main" val="13719670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005EE-0170-4527-AAF6-B22397B17AA0}"/>
              </a:ext>
            </a:extLst>
          </p:cNvPr>
          <p:cNvSpPr>
            <a:spLocks noGrp="1"/>
          </p:cNvSpPr>
          <p:nvPr>
            <p:ph type="title"/>
          </p:nvPr>
        </p:nvSpPr>
        <p:spPr/>
        <p:txBody>
          <a:bodyPr>
            <a:normAutofit/>
          </a:bodyPr>
          <a:lstStyle/>
          <a:p>
            <a:r>
              <a:rPr lang="en-US" sz="2400" b="1" i="1" dirty="0">
                <a:solidFill>
                  <a:schemeClr val="accent1">
                    <a:lumMod val="75000"/>
                  </a:schemeClr>
                </a:solidFill>
                <a:latin typeface="+mn-lt"/>
              </a:rPr>
              <a:t>2. MODULES OF THE SYSTEM</a:t>
            </a:r>
          </a:p>
        </p:txBody>
      </p:sp>
      <p:sp>
        <p:nvSpPr>
          <p:cNvPr id="3" name="Content Placeholder 2">
            <a:extLst>
              <a:ext uri="{FF2B5EF4-FFF2-40B4-BE49-F238E27FC236}">
                <a16:creationId xmlns:a16="http://schemas.microsoft.com/office/drawing/2014/main" id="{17FCC4CA-75B3-4D0F-9101-A52155A5F269}"/>
              </a:ext>
            </a:extLst>
          </p:cNvPr>
          <p:cNvSpPr>
            <a:spLocks noGrp="1"/>
          </p:cNvSpPr>
          <p:nvPr>
            <p:ph idx="1"/>
          </p:nvPr>
        </p:nvSpPr>
        <p:spPr/>
        <p:txBody>
          <a:bodyPr>
            <a:normAutofit fontScale="92500" lnSpcReduction="10000"/>
          </a:bodyPr>
          <a:lstStyle/>
          <a:p>
            <a:pPr marL="0" indent="0">
              <a:buNone/>
            </a:pPr>
            <a:r>
              <a:rPr lang="en-US" dirty="0"/>
              <a:t>The program is divided into different functions (modules), each responsible for a specific task:</a:t>
            </a:r>
          </a:p>
          <a:p>
            <a:pPr marL="0" indent="0">
              <a:buNone/>
            </a:pPr>
            <a:r>
              <a:rPr lang="en-US" dirty="0"/>
              <a:t> 1. The </a:t>
            </a:r>
            <a:r>
              <a:rPr lang="en-US" dirty="0" err="1"/>
              <a:t>add_patient</a:t>
            </a:r>
            <a:r>
              <a:rPr lang="en-US" dirty="0"/>
              <a:t>() function lets users add a new patient by entering their name, disease, and age. The program automatically assigns a new ID to each patient.</a:t>
            </a:r>
          </a:p>
          <a:p>
            <a:pPr marL="0" indent="0">
              <a:buNone/>
            </a:pPr>
            <a:r>
              <a:rPr lang="en-US" dirty="0"/>
              <a:t> 2. The </a:t>
            </a:r>
            <a:r>
              <a:rPr lang="en-US" dirty="0" err="1"/>
              <a:t>view_patient</a:t>
            </a:r>
            <a:r>
              <a:rPr lang="en-US" dirty="0"/>
              <a:t>() function displays all the patient records stored in the system in a clean and organized way.</a:t>
            </a:r>
          </a:p>
          <a:p>
            <a:pPr marL="0" indent="0">
              <a:buNone/>
            </a:pPr>
            <a:r>
              <a:rPr lang="en-US" dirty="0"/>
              <a:t> 3. The </a:t>
            </a:r>
            <a:r>
              <a:rPr lang="en-US" dirty="0" err="1"/>
              <a:t>search_patient_by_id</a:t>
            </a:r>
            <a:r>
              <a:rPr lang="en-US" dirty="0"/>
              <a:t>() and </a:t>
            </a:r>
            <a:r>
              <a:rPr lang="en-US" dirty="0" err="1"/>
              <a:t>search_patient_by_disease</a:t>
            </a:r>
            <a:r>
              <a:rPr lang="en-US" dirty="0"/>
              <a:t>() functions make it easy to find a particular patient or a group of patients by entering their ID or disease name.</a:t>
            </a:r>
          </a:p>
          <a:p>
            <a:pPr marL="0" indent="0">
              <a:buNone/>
            </a:pPr>
            <a:r>
              <a:rPr lang="en-US" dirty="0"/>
              <a:t> 4. The </a:t>
            </a:r>
            <a:r>
              <a:rPr lang="en-US" dirty="0" err="1"/>
              <a:t>update_patient</a:t>
            </a:r>
            <a:r>
              <a:rPr lang="en-US" dirty="0"/>
              <a:t>() function allows the user to change any existing patient’s details, such as name, disease, or age, if any corrections are needed.</a:t>
            </a:r>
          </a:p>
        </p:txBody>
      </p:sp>
    </p:spTree>
    <p:extLst>
      <p:ext uri="{BB962C8B-B14F-4D97-AF65-F5344CB8AC3E}">
        <p14:creationId xmlns:p14="http://schemas.microsoft.com/office/powerpoint/2010/main" val="360184001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7B4E4-49D0-4ECD-AEEA-83EF3BAF0178}"/>
              </a:ext>
            </a:extLst>
          </p:cNvPr>
          <p:cNvSpPr>
            <a:spLocks noGrp="1"/>
          </p:cNvSpPr>
          <p:nvPr>
            <p:ph type="title"/>
          </p:nvPr>
        </p:nvSpPr>
        <p:spPr/>
        <p:txBody>
          <a:bodyPr>
            <a:normAutofit/>
          </a:bodyPr>
          <a:lstStyle/>
          <a:p>
            <a:r>
              <a:rPr lang="en-US" sz="2400" b="1" i="1" dirty="0">
                <a:solidFill>
                  <a:schemeClr val="accent1">
                    <a:lumMod val="75000"/>
                  </a:schemeClr>
                </a:solidFill>
                <a:latin typeface="+mn-lt"/>
              </a:rPr>
              <a:t>3. PROGRAM FLOW</a:t>
            </a:r>
          </a:p>
        </p:txBody>
      </p:sp>
      <p:sp>
        <p:nvSpPr>
          <p:cNvPr id="3" name="Content Placeholder 2">
            <a:extLst>
              <a:ext uri="{FF2B5EF4-FFF2-40B4-BE49-F238E27FC236}">
                <a16:creationId xmlns:a16="http://schemas.microsoft.com/office/drawing/2014/main" id="{B84B61FB-9AF5-4B9E-8D82-30009FBBD948}"/>
              </a:ext>
            </a:extLst>
          </p:cNvPr>
          <p:cNvSpPr>
            <a:spLocks noGrp="1"/>
          </p:cNvSpPr>
          <p:nvPr>
            <p:ph idx="1"/>
          </p:nvPr>
        </p:nvSpPr>
        <p:spPr/>
        <p:txBody>
          <a:bodyPr>
            <a:normAutofit/>
          </a:bodyPr>
          <a:lstStyle/>
          <a:p>
            <a:pPr marL="0" indent="0">
              <a:buNone/>
            </a:pPr>
            <a:r>
              <a:rPr lang="en-US" dirty="0"/>
              <a:t>The system uses a menu-driven approach to interact with the user. When the program runs, it repeatedly shows a menu with all available options. The user selects an option by entering a number, and the corresponding function is executed. This loop continues until the user chooses to exit the program.</a:t>
            </a:r>
          </a:p>
          <a:p>
            <a:pPr marL="0" indent="0">
              <a:buNone/>
            </a:pPr>
            <a:endParaRPr lang="en-US" dirty="0"/>
          </a:p>
        </p:txBody>
      </p:sp>
    </p:spTree>
    <p:extLst>
      <p:ext uri="{BB962C8B-B14F-4D97-AF65-F5344CB8AC3E}">
        <p14:creationId xmlns:p14="http://schemas.microsoft.com/office/powerpoint/2010/main" val="300293929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D822B-A513-431B-ADDA-BEAF73054234}"/>
              </a:ext>
            </a:extLst>
          </p:cNvPr>
          <p:cNvSpPr>
            <a:spLocks noGrp="1"/>
          </p:cNvSpPr>
          <p:nvPr>
            <p:ph type="title"/>
          </p:nvPr>
        </p:nvSpPr>
        <p:spPr/>
        <p:txBody>
          <a:bodyPr/>
          <a:lstStyle/>
          <a:p>
            <a:r>
              <a:rPr lang="en-US" b="1" i="1" dirty="0">
                <a:solidFill>
                  <a:schemeClr val="accent1">
                    <a:lumMod val="75000"/>
                  </a:schemeClr>
                </a:solidFill>
              </a:rPr>
              <a:t>4. TECHNICAL TERMS and DATA HANDLING</a:t>
            </a:r>
            <a:br>
              <a:rPr lang="en-US" b="1" i="1" dirty="0">
                <a:solidFill>
                  <a:schemeClr val="accent1">
                    <a:lumMod val="75000"/>
                  </a:schemeClr>
                </a:solidFill>
              </a:rPr>
            </a:br>
            <a:endParaRPr lang="en-US" dirty="0"/>
          </a:p>
        </p:txBody>
      </p:sp>
      <p:sp>
        <p:nvSpPr>
          <p:cNvPr id="3" name="Content Placeholder 2">
            <a:extLst>
              <a:ext uri="{FF2B5EF4-FFF2-40B4-BE49-F238E27FC236}">
                <a16:creationId xmlns:a16="http://schemas.microsoft.com/office/drawing/2014/main" id="{D56F24AB-6D24-43CB-9F9F-776EA0ACA27E}"/>
              </a:ext>
            </a:extLst>
          </p:cNvPr>
          <p:cNvSpPr>
            <a:spLocks noGrp="1"/>
          </p:cNvSpPr>
          <p:nvPr>
            <p:ph idx="1"/>
          </p:nvPr>
        </p:nvSpPr>
        <p:spPr/>
        <p:txBody>
          <a:bodyPr>
            <a:normAutofit fontScale="85000" lnSpcReduction="20000"/>
          </a:bodyPr>
          <a:lstStyle/>
          <a:p>
            <a:r>
              <a:rPr lang="en-US" dirty="0"/>
              <a:t>Arrays are used to store multiple patient records. They allow multiple records to be managed simultaneously in memory. </a:t>
            </a:r>
          </a:p>
          <a:p>
            <a:r>
              <a:rPr lang="en-US" dirty="0"/>
              <a:t>The program uses loops to traverse arrays and access records. </a:t>
            </a:r>
          </a:p>
          <a:p>
            <a:r>
              <a:rPr lang="en-US" dirty="0"/>
              <a:t>Different functions are used for specific task. Each major operation, adding, viewing, searching, and updating patients is defined as a separate function to keep the program modular and organized. </a:t>
            </a:r>
          </a:p>
          <a:p>
            <a:r>
              <a:rPr lang="en-US" dirty="0"/>
              <a:t>Conditional statements Employed to control program flow and handle user choices effectively within the menu-driven system. </a:t>
            </a:r>
          </a:p>
          <a:p>
            <a:r>
              <a:rPr lang="en-US" dirty="0"/>
              <a:t>String comparison functions (like </a:t>
            </a:r>
            <a:r>
              <a:rPr lang="en-US" dirty="0" err="1"/>
              <a:t>strcmp</a:t>
            </a:r>
            <a:r>
              <a:rPr lang="en-US" dirty="0"/>
              <a:t>) are used when searching patients by disease. </a:t>
            </a:r>
          </a:p>
          <a:p>
            <a:r>
              <a:rPr lang="en-US" dirty="0"/>
              <a:t>Data Handling-- Data is stored temporarily in arrays during program execution. Input and output operations rely on standard console interaction for entering and displaying records.</a:t>
            </a:r>
            <a:endParaRPr lang="en-US" b="1" i="1" dirty="0"/>
          </a:p>
          <a:p>
            <a:endParaRPr lang="en-US" dirty="0"/>
          </a:p>
        </p:txBody>
      </p:sp>
    </p:spTree>
    <p:extLst>
      <p:ext uri="{BB962C8B-B14F-4D97-AF65-F5344CB8AC3E}">
        <p14:creationId xmlns:p14="http://schemas.microsoft.com/office/powerpoint/2010/main" val="56612269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3C654-C7C0-4F31-ADDC-04C9DD290237}"/>
              </a:ext>
            </a:extLst>
          </p:cNvPr>
          <p:cNvSpPr>
            <a:spLocks noGrp="1"/>
          </p:cNvSpPr>
          <p:nvPr>
            <p:ph type="title"/>
          </p:nvPr>
        </p:nvSpPr>
        <p:spPr/>
        <p:txBody>
          <a:bodyPr>
            <a:normAutofit/>
          </a:bodyPr>
          <a:lstStyle/>
          <a:p>
            <a:r>
              <a:rPr lang="en-US" sz="2400" b="1" i="1" dirty="0">
                <a:solidFill>
                  <a:schemeClr val="accent1">
                    <a:lumMod val="75000"/>
                  </a:schemeClr>
                </a:solidFill>
                <a:latin typeface="+mn-lt"/>
              </a:rPr>
              <a:t>5. SCALABILITY</a:t>
            </a:r>
          </a:p>
        </p:txBody>
      </p:sp>
      <p:sp>
        <p:nvSpPr>
          <p:cNvPr id="3" name="Content Placeholder 2">
            <a:extLst>
              <a:ext uri="{FF2B5EF4-FFF2-40B4-BE49-F238E27FC236}">
                <a16:creationId xmlns:a16="http://schemas.microsoft.com/office/drawing/2014/main" id="{4E281E53-BF73-4177-B182-22F52BB6A1D7}"/>
              </a:ext>
            </a:extLst>
          </p:cNvPr>
          <p:cNvSpPr>
            <a:spLocks noGrp="1"/>
          </p:cNvSpPr>
          <p:nvPr>
            <p:ph idx="1"/>
          </p:nvPr>
        </p:nvSpPr>
        <p:spPr/>
        <p:txBody>
          <a:bodyPr>
            <a:normAutofit/>
          </a:bodyPr>
          <a:lstStyle/>
          <a:p>
            <a:pPr marL="0" indent="0">
              <a:buNone/>
            </a:pPr>
            <a:r>
              <a:rPr lang="en-US" dirty="0"/>
              <a:t>The system architecture is simple but modular, which allows future improvements, such as: </a:t>
            </a:r>
          </a:p>
          <a:p>
            <a:r>
              <a:rPr lang="en-US" dirty="0"/>
              <a:t> Storing data permanently using file handling. </a:t>
            </a:r>
          </a:p>
          <a:p>
            <a:r>
              <a:rPr lang="en-US" dirty="0"/>
              <a:t> Adding features like deletion of records. </a:t>
            </a:r>
          </a:p>
          <a:p>
            <a:r>
              <a:rPr lang="en-US" dirty="0"/>
              <a:t> Integrating with a database for handling larger datasets.</a:t>
            </a:r>
          </a:p>
          <a:p>
            <a:pPr marL="0" indent="0">
              <a:buNone/>
            </a:pPr>
            <a:r>
              <a:rPr lang="en-US" dirty="0"/>
              <a:t> In short, the architecture is functional, easy to understand, and flexible, making it suitable for small hospitals, clinics, and as a learning project for programming students.</a:t>
            </a:r>
          </a:p>
        </p:txBody>
      </p:sp>
    </p:spTree>
    <p:extLst>
      <p:ext uri="{BB962C8B-B14F-4D97-AF65-F5344CB8AC3E}">
        <p14:creationId xmlns:p14="http://schemas.microsoft.com/office/powerpoint/2010/main" val="198917299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F50C2B0-B784-448B-B669-5FA2F8574282}"/>
              </a:ext>
            </a:extLst>
          </p:cNvPr>
          <p:cNvSpPr>
            <a:spLocks noGrp="1"/>
          </p:cNvSpPr>
          <p:nvPr>
            <p:ph type="title"/>
          </p:nvPr>
        </p:nvSpPr>
        <p:spPr/>
        <p:txBody>
          <a:bodyPr/>
          <a:lstStyle/>
          <a:p>
            <a:pPr marL="457200" indent="-457200">
              <a:buFont typeface="Arial" panose="020B0604020202020204" pitchFamily="34" charset="0"/>
              <a:buChar char="•"/>
            </a:pPr>
            <a:r>
              <a:rPr lang="en-US" b="1" i="1" dirty="0">
                <a:solidFill>
                  <a:schemeClr val="accent1">
                    <a:lumMod val="75000"/>
                  </a:schemeClr>
                </a:solidFill>
              </a:rPr>
              <a:t>ARCHITECTURE OF THE SYSTEM</a:t>
            </a:r>
          </a:p>
        </p:txBody>
      </p:sp>
      <p:pic>
        <p:nvPicPr>
          <p:cNvPr id="9" name="Picture 8">
            <a:extLst>
              <a:ext uri="{FF2B5EF4-FFF2-40B4-BE49-F238E27FC236}">
                <a16:creationId xmlns:a16="http://schemas.microsoft.com/office/drawing/2014/main" id="{10A57C65-0783-47D3-B71C-0DAB4E5859CE}"/>
              </a:ext>
            </a:extLst>
          </p:cNvPr>
          <p:cNvPicPr>
            <a:picLocks noChangeAspect="1"/>
          </p:cNvPicPr>
          <p:nvPr/>
        </p:nvPicPr>
        <p:blipFill>
          <a:blip r:embed="rId2"/>
          <a:stretch>
            <a:fillRect/>
          </a:stretch>
        </p:blipFill>
        <p:spPr>
          <a:xfrm>
            <a:off x="2109019" y="1853755"/>
            <a:ext cx="7167716" cy="4260766"/>
          </a:xfrm>
          <a:prstGeom prst="rect">
            <a:avLst/>
          </a:prstGeom>
        </p:spPr>
      </p:pic>
    </p:spTree>
    <p:extLst>
      <p:ext uri="{BB962C8B-B14F-4D97-AF65-F5344CB8AC3E}">
        <p14:creationId xmlns:p14="http://schemas.microsoft.com/office/powerpoint/2010/main" val="200103009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4F0F8-409B-42DD-A560-2DC09C5CFF61}"/>
              </a:ext>
            </a:extLst>
          </p:cNvPr>
          <p:cNvSpPr>
            <a:spLocks noGrp="1"/>
          </p:cNvSpPr>
          <p:nvPr>
            <p:ph type="title"/>
          </p:nvPr>
        </p:nvSpPr>
        <p:spPr>
          <a:xfrm>
            <a:off x="1449218" y="804889"/>
            <a:ext cx="2783570" cy="1059305"/>
          </a:xfrm>
        </p:spPr>
        <p:txBody>
          <a:bodyPr>
            <a:normAutofit/>
          </a:bodyPr>
          <a:lstStyle/>
          <a:p>
            <a:r>
              <a:rPr lang="en-US" sz="3600" b="1" i="1" dirty="0">
                <a:solidFill>
                  <a:schemeClr val="accent1">
                    <a:lumMod val="75000"/>
                  </a:schemeClr>
                </a:solidFill>
                <a:latin typeface="+mn-lt"/>
              </a:rPr>
              <a:t>RESULTS:</a:t>
            </a:r>
          </a:p>
        </p:txBody>
      </p:sp>
      <p:sp>
        <p:nvSpPr>
          <p:cNvPr id="3" name="Content Placeholder 2">
            <a:extLst>
              <a:ext uri="{FF2B5EF4-FFF2-40B4-BE49-F238E27FC236}">
                <a16:creationId xmlns:a16="http://schemas.microsoft.com/office/drawing/2014/main" id="{7804E8A3-D18F-4E4D-BCE4-6A475C5F7F1A}"/>
              </a:ext>
            </a:extLst>
          </p:cNvPr>
          <p:cNvSpPr>
            <a:spLocks noGrp="1"/>
          </p:cNvSpPr>
          <p:nvPr>
            <p:ph sz="half" idx="1"/>
          </p:nvPr>
        </p:nvSpPr>
        <p:spPr/>
        <p:txBody>
          <a:bodyPr>
            <a:normAutofit fontScale="85000" lnSpcReduction="20000"/>
          </a:bodyPr>
          <a:lstStyle/>
          <a:p>
            <a:r>
              <a:rPr lang="en-US" dirty="0"/>
              <a:t>Successfully added and displayed multiple patient records.</a:t>
            </a:r>
          </a:p>
          <a:p>
            <a:r>
              <a:rPr lang="en-US" dirty="0"/>
              <a:t> Search operations by ID and disease performed accurately. </a:t>
            </a:r>
          </a:p>
          <a:p>
            <a:r>
              <a:rPr lang="en-US" dirty="0"/>
              <a:t>Updates to existing records reflected immediately. </a:t>
            </a:r>
          </a:p>
          <a:p>
            <a:r>
              <a:rPr lang="en-US" dirty="0"/>
              <a:t>Menu interface functioned smoothly without logical errors. </a:t>
            </a:r>
          </a:p>
          <a:p>
            <a:r>
              <a:rPr lang="en-US" dirty="0"/>
              <a:t>System validated through multiple input test cases.</a:t>
            </a:r>
          </a:p>
          <a:p>
            <a:pPr marL="0" indent="0">
              <a:buNone/>
            </a:pPr>
            <a:endParaRPr lang="en-US" dirty="0"/>
          </a:p>
        </p:txBody>
      </p:sp>
      <p:sp>
        <p:nvSpPr>
          <p:cNvPr id="4" name="Content Placeholder 3">
            <a:extLst>
              <a:ext uri="{FF2B5EF4-FFF2-40B4-BE49-F238E27FC236}">
                <a16:creationId xmlns:a16="http://schemas.microsoft.com/office/drawing/2014/main" id="{152BCDB4-605A-4B8E-9F5A-0F1EA23A4818}"/>
              </a:ext>
            </a:extLst>
          </p:cNvPr>
          <p:cNvSpPr>
            <a:spLocks noGrp="1"/>
          </p:cNvSpPr>
          <p:nvPr>
            <p:ph sz="half" idx="2"/>
          </p:nvPr>
        </p:nvSpPr>
        <p:spPr/>
        <p:txBody>
          <a:bodyPr>
            <a:normAutofit fontScale="85000" lnSpcReduction="20000"/>
          </a:bodyPr>
          <a:lstStyle/>
          <a:p>
            <a:r>
              <a:rPr lang="en-US" dirty="0"/>
              <a:t>A maximum of 50 patient records can be managed.</a:t>
            </a:r>
          </a:p>
          <a:p>
            <a:r>
              <a:rPr lang="en-US" dirty="0"/>
              <a:t> The system runs in a standard console-based C environment. </a:t>
            </a:r>
          </a:p>
          <a:p>
            <a:r>
              <a:rPr lang="en-US" dirty="0"/>
              <a:t>Data is entered correctly by users (no validation errors). </a:t>
            </a:r>
          </a:p>
          <a:p>
            <a:r>
              <a:rPr lang="en-US" dirty="0"/>
              <a:t>Data is stored temporarily (no file handling implemented).</a:t>
            </a:r>
            <a:endParaRPr lang="en-US" b="1" i="1" dirty="0"/>
          </a:p>
          <a:p>
            <a:endParaRPr lang="en-US" dirty="0"/>
          </a:p>
        </p:txBody>
      </p:sp>
      <p:sp>
        <p:nvSpPr>
          <p:cNvPr id="6" name="TextBox 5">
            <a:extLst>
              <a:ext uri="{FF2B5EF4-FFF2-40B4-BE49-F238E27FC236}">
                <a16:creationId xmlns:a16="http://schemas.microsoft.com/office/drawing/2014/main" id="{CEF0C168-C5F1-462D-9FCC-5BBA613F14FC}"/>
              </a:ext>
            </a:extLst>
          </p:cNvPr>
          <p:cNvSpPr txBox="1"/>
          <p:nvPr/>
        </p:nvSpPr>
        <p:spPr>
          <a:xfrm>
            <a:off x="6937698" y="872876"/>
            <a:ext cx="3805084" cy="923330"/>
          </a:xfrm>
          <a:prstGeom prst="rect">
            <a:avLst/>
          </a:prstGeom>
          <a:noFill/>
        </p:spPr>
        <p:txBody>
          <a:bodyPr wrap="square" rtlCol="0">
            <a:spAutoFit/>
          </a:bodyPr>
          <a:lstStyle/>
          <a:p>
            <a:r>
              <a:rPr lang="en-US" sz="3600" b="1" i="1" dirty="0">
                <a:solidFill>
                  <a:schemeClr val="accent1">
                    <a:lumMod val="75000"/>
                  </a:schemeClr>
                </a:solidFill>
              </a:rPr>
              <a:t>ASSUMPTIONS:</a:t>
            </a:r>
          </a:p>
          <a:p>
            <a:endParaRPr lang="en-US" dirty="0"/>
          </a:p>
        </p:txBody>
      </p:sp>
    </p:spTree>
    <p:extLst>
      <p:ext uri="{BB962C8B-B14F-4D97-AF65-F5344CB8AC3E}">
        <p14:creationId xmlns:p14="http://schemas.microsoft.com/office/powerpoint/2010/main" val="253735086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77FED-0689-41BA-8816-C67635D093B5}"/>
              </a:ext>
            </a:extLst>
          </p:cNvPr>
          <p:cNvSpPr>
            <a:spLocks noGrp="1"/>
          </p:cNvSpPr>
          <p:nvPr>
            <p:ph type="title"/>
          </p:nvPr>
        </p:nvSpPr>
        <p:spPr/>
        <p:txBody>
          <a:bodyPr/>
          <a:lstStyle/>
          <a:p>
            <a:r>
              <a:rPr lang="en-US" b="1" i="1" dirty="0">
                <a:solidFill>
                  <a:schemeClr val="accent1">
                    <a:lumMod val="75000"/>
                  </a:schemeClr>
                </a:solidFill>
              </a:rPr>
              <a:t>CONCLUSIONS:</a:t>
            </a:r>
          </a:p>
        </p:txBody>
      </p:sp>
      <p:sp>
        <p:nvSpPr>
          <p:cNvPr id="3" name="Content Placeholder 2">
            <a:extLst>
              <a:ext uri="{FF2B5EF4-FFF2-40B4-BE49-F238E27FC236}">
                <a16:creationId xmlns:a16="http://schemas.microsoft.com/office/drawing/2014/main" id="{0727FB0D-DCEA-4B04-98E6-40CC7A1E36CD}"/>
              </a:ext>
            </a:extLst>
          </p:cNvPr>
          <p:cNvSpPr>
            <a:spLocks noGrp="1"/>
          </p:cNvSpPr>
          <p:nvPr>
            <p:ph idx="1"/>
          </p:nvPr>
        </p:nvSpPr>
        <p:spPr/>
        <p:txBody>
          <a:bodyPr>
            <a:normAutofit fontScale="85000" lnSpcReduction="10000"/>
          </a:bodyPr>
          <a:lstStyle/>
          <a:p>
            <a:r>
              <a:rPr lang="en-US" dirty="0"/>
              <a:t>The Patient Record System successfully establishes a reliable digital framework for keeping track of patient details. By storing all essential information in an organized manner, the system ensures that data is consistent and ready for immediate access whenever needed. The menu driven design and modular functions provide a clear structure, allowing smooth execution of tasks without confusion. </a:t>
            </a:r>
          </a:p>
          <a:p>
            <a:r>
              <a:rPr lang="en-US" dirty="0"/>
              <a:t>The system highlights how even a simple software solution can streamline administrative tasks, reduce the possibility of mistakes, and maintain proper records over time. Its straightforward architecture also allows easy expansion, making it suitable for smaller healthcare centers as well as for learning purposes. </a:t>
            </a:r>
          </a:p>
          <a:p>
            <a:r>
              <a:rPr lang="en-US" dirty="0"/>
              <a:t>Overall, this project proves that well-structured digital tools can bring efficiency, order, and reliability to patient management, supporting better operational practices in healthcare environments.</a:t>
            </a:r>
          </a:p>
        </p:txBody>
      </p:sp>
    </p:spTree>
    <p:extLst>
      <p:ext uri="{BB962C8B-B14F-4D97-AF65-F5344CB8AC3E}">
        <p14:creationId xmlns:p14="http://schemas.microsoft.com/office/powerpoint/2010/main" val="2912019157"/>
      </p:ext>
    </p:extLst>
  </p:cSld>
  <p:clrMapOvr>
    <a:masterClrMapping/>
  </p:clrMapOvr>
  <p:transition spd="slow">
    <p:push dir="u"/>
  </p:transition>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108</TotalTime>
  <Words>1452</Words>
  <Application>Microsoft Office PowerPoint</Application>
  <PresentationFormat>Widescreen</PresentationFormat>
  <Paragraphs>78</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Gill Sans MT</vt:lpstr>
      <vt:lpstr>Lucida Sans Typewriter</vt:lpstr>
      <vt:lpstr>Gallery</vt:lpstr>
      <vt:lpstr>                                                                                                          HOSPITAL PATIENT RECORD  SYSTEM                         </vt:lpstr>
      <vt:lpstr>INDEX</vt:lpstr>
      <vt:lpstr> ABSTRACT:</vt:lpstr>
      <vt:lpstr>INTRODUCTION:</vt:lpstr>
      <vt:lpstr>OBJECTIVES:</vt:lpstr>
      <vt:lpstr>HOW IT WAS SOLVED?</vt:lpstr>
      <vt:lpstr>ARCHITECTURE OF THE SYSTEM:</vt:lpstr>
      <vt:lpstr>DATA STORAGE</vt:lpstr>
      <vt:lpstr>2. MODULES OF THE SYSTEM</vt:lpstr>
      <vt:lpstr>3. PROGRAM FLOW</vt:lpstr>
      <vt:lpstr>4. TECHNICAL TERMS and DATA HANDLING </vt:lpstr>
      <vt:lpstr>5. SCALABILITY</vt:lpstr>
      <vt:lpstr>ARCHITECTURE OF THE SYSTEM</vt:lpstr>
      <vt:lpstr>RESULTS:</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HOSPITAL REPORT MANAGEMENT SYSTEM</dc:title>
  <dc:creator>Admin</dc:creator>
  <cp:lastModifiedBy>FBC</cp:lastModifiedBy>
  <cp:revision>13</cp:revision>
  <dcterms:created xsi:type="dcterms:W3CDTF">2025-11-13T06:41:33Z</dcterms:created>
  <dcterms:modified xsi:type="dcterms:W3CDTF">2025-11-13T12:17:17Z</dcterms:modified>
</cp:coreProperties>
</file>